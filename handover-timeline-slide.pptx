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583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Transfer — 3-Month Handover Timeline</a:t>
            </a:r>
            <a:endParaRPr lang="en-US" sz="26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33856"/>
            <a:ext cx="1371600" cy="7315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~3 months of the programme (≈ M13–M15): EY hands the running operation to RCPL’s transformation team, gate by gate, to full independence.</a:t>
            </a:r>
            <a:endParaRPr lang="en-US" sz="1250" dirty="0"/>
          </a:p>
        </p:txBody>
      </p:sp>
      <p:sp>
        <p:nvSpPr>
          <p:cNvPr id="6" name="Shape 2"/>
          <p:cNvSpPr/>
          <p:nvPr/>
        </p:nvSpPr>
        <p:spPr>
          <a:xfrm>
            <a:off x="3685032" y="1783080"/>
            <a:ext cx="2606040" cy="310896"/>
          </a:xfrm>
          <a:prstGeom prst="roundRect">
            <a:avLst>
              <a:gd name="adj" fmla="val 14706"/>
            </a:avLst>
          </a:prstGeom>
          <a:solidFill>
            <a:srgbClr val="F2EFF4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0" y="178308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6345936" y="1783080"/>
            <a:ext cx="2606040" cy="310896"/>
          </a:xfrm>
          <a:prstGeom prst="roundRect">
            <a:avLst>
              <a:gd name="adj" fmla="val 14706"/>
            </a:avLst>
          </a:prstGeom>
          <a:solidFill>
            <a:srgbClr val="F2EFF4"/>
          </a:solidFill>
          <a:ln/>
        </p:spPr>
      </p:sp>
      <p:sp>
        <p:nvSpPr>
          <p:cNvPr id="9" name="Text 5"/>
          <p:cNvSpPr/>
          <p:nvPr/>
        </p:nvSpPr>
        <p:spPr>
          <a:xfrm>
            <a:off x="6318504" y="178308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006840" y="1783080"/>
            <a:ext cx="2606040" cy="310896"/>
          </a:xfrm>
          <a:prstGeom prst="roundRect">
            <a:avLst>
              <a:gd name="adj" fmla="val 14706"/>
            </a:avLst>
          </a:prstGeom>
          <a:solidFill>
            <a:srgbClr val="F2EFF4"/>
          </a:solidFill>
          <a:ln/>
        </p:spPr>
      </p:sp>
      <p:sp>
        <p:nvSpPr>
          <p:cNvPr id="11" name="Text 7"/>
          <p:cNvSpPr/>
          <p:nvPr/>
        </p:nvSpPr>
        <p:spPr>
          <a:xfrm>
            <a:off x="8979408" y="178308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685032" y="2139696"/>
            <a:ext cx="2606040" cy="420624"/>
          </a:xfrm>
          <a:prstGeom prst="roundRect">
            <a:avLst>
              <a:gd name="adj" fmla="val 10870"/>
            </a:avLst>
          </a:prstGeom>
          <a:solidFill>
            <a:srgbClr val="2E5FA3"/>
          </a:solidFill>
          <a:ln/>
        </p:spPr>
      </p:sp>
      <p:sp>
        <p:nvSpPr>
          <p:cNvPr id="13" name="Text 9"/>
          <p:cNvSpPr/>
          <p:nvPr/>
        </p:nvSpPr>
        <p:spPr>
          <a:xfrm>
            <a:off x="3657600" y="2139696"/>
            <a:ext cx="2660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&amp; Shadow
</a:t>
            </a:r>
            <a:endParaRPr lang="en-US" sz="11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RCPL observes · EY leads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345936" y="2139696"/>
            <a:ext cx="2606040" cy="420624"/>
          </a:xfrm>
          <a:prstGeom prst="roundRect">
            <a:avLst>
              <a:gd name="adj" fmla="val 10870"/>
            </a:avLst>
          </a:prstGeom>
          <a:solidFill>
            <a:srgbClr val="7A2A8F"/>
          </a:solidFill>
          <a:ln/>
        </p:spPr>
      </p:sp>
      <p:sp>
        <p:nvSpPr>
          <p:cNvPr id="15" name="Text 11"/>
          <p:cNvSpPr/>
          <p:nvPr/>
        </p:nvSpPr>
        <p:spPr>
          <a:xfrm>
            <a:off x="6318504" y="2139696"/>
            <a:ext cx="2660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Reverse-shadow &amp; Stabilise
</a:t>
            </a:r>
            <a:endParaRPr lang="en-US" sz="11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RCPL runs · EY supports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9006840" y="2139696"/>
            <a:ext cx="2606040" cy="420624"/>
          </a:xfrm>
          <a:prstGeom prst="roundRect">
            <a:avLst>
              <a:gd name="adj" fmla="val 10870"/>
            </a:avLst>
          </a:prstGeom>
          <a:solidFill>
            <a:srgbClr val="C10E5B"/>
          </a:solidFill>
          <a:ln/>
        </p:spPr>
      </p:sp>
      <p:sp>
        <p:nvSpPr>
          <p:cNvPr id="17" name="Text 13"/>
          <p:cNvSpPr/>
          <p:nvPr/>
        </p:nvSpPr>
        <p:spPr>
          <a:xfrm>
            <a:off x="8979408" y="2139696"/>
            <a:ext cx="2660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RCPL-led → Sign-off
</a:t>
            </a:r>
            <a:endParaRPr lang="en-US" sz="11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RCPL owns · EY advisory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322826" y="2651760"/>
            <a:ext cx="0" cy="3090672"/>
          </a:xfrm>
          <a:prstGeom prst="line">
            <a:avLst/>
          </a:prstGeom>
          <a:noFill/>
          <a:ln w="9525">
            <a:solidFill>
              <a:srgbClr val="ECE9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988052" y="2651760"/>
            <a:ext cx="0" cy="3090672"/>
          </a:xfrm>
          <a:prstGeom prst="line">
            <a:avLst/>
          </a:prstGeom>
          <a:noFill/>
          <a:ln w="9525">
            <a:solidFill>
              <a:srgbClr val="ECE9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653278" y="2651760"/>
            <a:ext cx="0" cy="3090672"/>
          </a:xfrm>
          <a:prstGeom prst="line">
            <a:avLst/>
          </a:prstGeom>
          <a:noFill/>
          <a:ln w="9525">
            <a:solidFill>
              <a:srgbClr val="ECE9F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318504" y="2651760"/>
            <a:ext cx="0" cy="3090672"/>
          </a:xfrm>
          <a:prstGeom prst="line">
            <a:avLst/>
          </a:prstGeom>
          <a:noFill/>
          <a:ln w="12700">
            <a:solidFill>
              <a:srgbClr val="C9C4D0"/>
            </a:solidFill>
            <a:prstDash val="dash"/>
          </a:ln>
        </p:spPr>
      </p:sp>
      <p:sp>
        <p:nvSpPr>
          <p:cNvPr id="22" name="Shape 18"/>
          <p:cNvSpPr/>
          <p:nvPr/>
        </p:nvSpPr>
        <p:spPr>
          <a:xfrm>
            <a:off x="6983730" y="2651760"/>
            <a:ext cx="0" cy="3090672"/>
          </a:xfrm>
          <a:prstGeom prst="line">
            <a:avLst/>
          </a:prstGeom>
          <a:noFill/>
          <a:ln w="9525">
            <a:solidFill>
              <a:srgbClr val="ECE9F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648956" y="2651760"/>
            <a:ext cx="0" cy="3090672"/>
          </a:xfrm>
          <a:prstGeom prst="line">
            <a:avLst/>
          </a:prstGeom>
          <a:noFill/>
          <a:ln w="9525">
            <a:solidFill>
              <a:srgbClr val="ECE9F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314182" y="2651760"/>
            <a:ext cx="0" cy="3090672"/>
          </a:xfrm>
          <a:prstGeom prst="line">
            <a:avLst/>
          </a:prstGeom>
          <a:noFill/>
          <a:ln w="9525">
            <a:solidFill>
              <a:srgbClr val="ECE9F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979408" y="2651760"/>
            <a:ext cx="0" cy="3090672"/>
          </a:xfrm>
          <a:prstGeom prst="line">
            <a:avLst/>
          </a:prstGeom>
          <a:noFill/>
          <a:ln w="12700">
            <a:solidFill>
              <a:srgbClr val="C9C4D0"/>
            </a:solidFill>
            <a:prstDash val="dash"/>
          </a:ln>
        </p:spPr>
      </p:sp>
      <p:sp>
        <p:nvSpPr>
          <p:cNvPr id="26" name="Shape 22"/>
          <p:cNvSpPr/>
          <p:nvPr/>
        </p:nvSpPr>
        <p:spPr>
          <a:xfrm>
            <a:off x="9644634" y="2651760"/>
            <a:ext cx="0" cy="3090672"/>
          </a:xfrm>
          <a:prstGeom prst="line">
            <a:avLst/>
          </a:prstGeom>
          <a:noFill/>
          <a:ln w="9525">
            <a:solidFill>
              <a:srgbClr val="ECE9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0309860" y="2651760"/>
            <a:ext cx="0" cy="3090672"/>
          </a:xfrm>
          <a:prstGeom prst="line">
            <a:avLst/>
          </a:prstGeom>
          <a:noFill/>
          <a:ln w="9525">
            <a:solidFill>
              <a:srgbClr val="ECE9F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0975086" y="2651760"/>
            <a:ext cx="0" cy="3090672"/>
          </a:xfrm>
          <a:prstGeom prst="line">
            <a:avLst/>
          </a:prstGeom>
          <a:noFill/>
          <a:ln w="9525">
            <a:solidFill>
              <a:srgbClr val="ECE9F0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48640" y="2523744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2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 — Handover of operations to RCPL’s transformation team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48640" y="2724912"/>
            <a:ext cx="30175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3F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planning &amp; governance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3657600" y="2779776"/>
            <a:ext cx="1330452" cy="169164"/>
          </a:xfrm>
          <a:prstGeom prst="roundRect">
            <a:avLst>
              <a:gd name="adj" fmla="val 21622"/>
            </a:avLst>
          </a:prstGeom>
          <a:solidFill>
            <a:srgbClr val="2E5FA3"/>
          </a:solidFill>
          <a:ln/>
        </p:spPr>
      </p:sp>
      <p:sp>
        <p:nvSpPr>
          <p:cNvPr id="32" name="Text 28"/>
          <p:cNvSpPr/>
          <p:nvPr/>
        </p:nvSpPr>
        <p:spPr>
          <a:xfrm>
            <a:off x="548640" y="2967228"/>
            <a:ext cx="30175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3F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playbook development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3657600" y="3022092"/>
            <a:ext cx="1995678" cy="169164"/>
          </a:xfrm>
          <a:prstGeom prst="roundRect">
            <a:avLst>
              <a:gd name="adj" fmla="val 21622"/>
            </a:avLst>
          </a:prstGeom>
          <a:solidFill>
            <a:srgbClr val="2E5FA3"/>
          </a:solidFill>
          <a:ln/>
        </p:spPr>
      </p:sp>
      <p:sp>
        <p:nvSpPr>
          <p:cNvPr id="34" name="Text 30"/>
          <p:cNvSpPr/>
          <p:nvPr/>
        </p:nvSpPr>
        <p:spPr>
          <a:xfrm>
            <a:off x="548640" y="3209544"/>
            <a:ext cx="30175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3F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capture &amp; shadowing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3657600" y="3264408"/>
            <a:ext cx="2660904" cy="169164"/>
          </a:xfrm>
          <a:prstGeom prst="roundRect">
            <a:avLst>
              <a:gd name="adj" fmla="val 21622"/>
            </a:avLst>
          </a:prstGeom>
          <a:solidFill>
            <a:srgbClr val="2E5FA3"/>
          </a:solidFill>
          <a:ln/>
        </p:spPr>
      </p:sp>
      <p:sp>
        <p:nvSpPr>
          <p:cNvPr id="36" name="Text 32"/>
          <p:cNvSpPr/>
          <p:nvPr/>
        </p:nvSpPr>
        <p:spPr>
          <a:xfrm>
            <a:off x="3657600" y="3264408"/>
            <a:ext cx="26609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</a:t>
            </a:r>
            <a:endParaRPr lang="en-US" sz="700" dirty="0"/>
          </a:p>
        </p:txBody>
      </p:sp>
      <p:sp>
        <p:nvSpPr>
          <p:cNvPr id="37" name="Text 33"/>
          <p:cNvSpPr/>
          <p:nvPr/>
        </p:nvSpPr>
        <p:spPr>
          <a:xfrm>
            <a:off x="548640" y="3451860"/>
            <a:ext cx="30175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3F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 / RACI / KPIs finalised · tooling handover</a:t>
            </a:r>
            <a:endParaRPr lang="en-US" sz="950" dirty="0"/>
          </a:p>
        </p:txBody>
      </p:sp>
      <p:sp>
        <p:nvSpPr>
          <p:cNvPr id="38" name="Shape 34"/>
          <p:cNvSpPr/>
          <p:nvPr/>
        </p:nvSpPr>
        <p:spPr>
          <a:xfrm>
            <a:off x="4988052" y="3506724"/>
            <a:ext cx="3326130" cy="169164"/>
          </a:xfrm>
          <a:prstGeom prst="roundRect">
            <a:avLst>
              <a:gd name="adj" fmla="val 21622"/>
            </a:avLst>
          </a:prstGeom>
          <a:solidFill>
            <a:srgbClr val="7A2A8F"/>
          </a:solidFill>
          <a:ln/>
        </p:spPr>
      </p:sp>
      <p:sp>
        <p:nvSpPr>
          <p:cNvPr id="39" name="Text 35"/>
          <p:cNvSpPr/>
          <p:nvPr/>
        </p:nvSpPr>
        <p:spPr>
          <a:xfrm>
            <a:off x="548640" y="3694176"/>
            <a:ext cx="30175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3F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Reverse-shadow: RCPL runs, EY supports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653278" y="3749040"/>
            <a:ext cx="3326130" cy="169164"/>
          </a:xfrm>
          <a:prstGeom prst="roundRect">
            <a:avLst>
              <a:gd name="adj" fmla="val 21622"/>
            </a:avLst>
          </a:prstGeom>
          <a:solidFill>
            <a:srgbClr val="7A2A8F"/>
          </a:solidFill>
          <a:ln/>
        </p:spPr>
      </p:sp>
      <p:sp>
        <p:nvSpPr>
          <p:cNvPr id="41" name="Text 37"/>
          <p:cNvSpPr/>
          <p:nvPr/>
        </p:nvSpPr>
        <p:spPr>
          <a:xfrm>
            <a:off x="5653278" y="3749040"/>
            <a:ext cx="332613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</a:t>
            </a:r>
            <a:endParaRPr lang="en-US" sz="700" dirty="0"/>
          </a:p>
        </p:txBody>
      </p:sp>
      <p:sp>
        <p:nvSpPr>
          <p:cNvPr id="42" name="Text 38"/>
          <p:cNvSpPr/>
          <p:nvPr/>
        </p:nvSpPr>
        <p:spPr>
          <a:xfrm>
            <a:off x="548640" y="3936492"/>
            <a:ext cx="30175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3F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&amp; IT management handover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6318504" y="3991356"/>
            <a:ext cx="2660904" cy="169164"/>
          </a:xfrm>
          <a:prstGeom prst="roundRect">
            <a:avLst>
              <a:gd name="adj" fmla="val 21622"/>
            </a:avLst>
          </a:prstGeom>
          <a:solidFill>
            <a:srgbClr val="7A2A8F"/>
          </a:solidFill>
          <a:ln/>
        </p:spPr>
      </p:sp>
      <p:sp>
        <p:nvSpPr>
          <p:cNvPr id="44" name="Text 40"/>
          <p:cNvSpPr/>
          <p:nvPr/>
        </p:nvSpPr>
        <p:spPr>
          <a:xfrm>
            <a:off x="548640" y="4178808"/>
            <a:ext cx="30175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3F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RCPL-led operations, EY on-call</a:t>
            </a:r>
            <a:endParaRPr lang="en-US" sz="950" dirty="0"/>
          </a:p>
        </p:txBody>
      </p:sp>
      <p:sp>
        <p:nvSpPr>
          <p:cNvPr id="45" name="Shape 41"/>
          <p:cNvSpPr/>
          <p:nvPr/>
        </p:nvSpPr>
        <p:spPr>
          <a:xfrm>
            <a:off x="8314182" y="4233672"/>
            <a:ext cx="2660904" cy="169164"/>
          </a:xfrm>
          <a:prstGeom prst="roundRect">
            <a:avLst>
              <a:gd name="adj" fmla="val 21622"/>
            </a:avLst>
          </a:prstGeom>
          <a:solidFill>
            <a:srgbClr val="C10E5B"/>
          </a:solidFill>
          <a:ln/>
        </p:spPr>
      </p:sp>
      <p:sp>
        <p:nvSpPr>
          <p:cNvPr id="46" name="Text 42"/>
          <p:cNvSpPr/>
          <p:nvPr/>
        </p:nvSpPr>
        <p:spPr>
          <a:xfrm>
            <a:off x="8314182" y="4233672"/>
            <a:ext cx="26609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3</a:t>
            </a:r>
            <a:endParaRPr lang="en-US" sz="700" dirty="0"/>
          </a:p>
        </p:txBody>
      </p:sp>
      <p:sp>
        <p:nvSpPr>
          <p:cNvPr id="47" name="Text 43"/>
          <p:cNvSpPr/>
          <p:nvPr/>
        </p:nvSpPr>
        <p:spPr>
          <a:xfrm>
            <a:off x="548640" y="4421124"/>
            <a:ext cx="30175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3F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assurance &amp; go-live stabilisation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8979408" y="4475988"/>
            <a:ext cx="1995678" cy="169164"/>
          </a:xfrm>
          <a:prstGeom prst="roundRect">
            <a:avLst>
              <a:gd name="adj" fmla="val 21622"/>
            </a:avLst>
          </a:prstGeom>
          <a:solidFill>
            <a:srgbClr val="C10E5B"/>
          </a:solidFill>
          <a:ln/>
        </p:spPr>
      </p:sp>
      <p:sp>
        <p:nvSpPr>
          <p:cNvPr id="49" name="Text 45"/>
          <p:cNvSpPr/>
          <p:nvPr/>
        </p:nvSpPr>
        <p:spPr>
          <a:xfrm>
            <a:off x="548640" y="4663440"/>
            <a:ext cx="30175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3F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&amp; post-transfer assistance</a:t>
            </a:r>
            <a:endParaRPr lang="en-US" sz="950" dirty="0"/>
          </a:p>
        </p:txBody>
      </p:sp>
      <p:sp>
        <p:nvSpPr>
          <p:cNvPr id="50" name="Shape 46"/>
          <p:cNvSpPr/>
          <p:nvPr/>
        </p:nvSpPr>
        <p:spPr>
          <a:xfrm>
            <a:off x="10309860" y="4718304"/>
            <a:ext cx="1330452" cy="169164"/>
          </a:xfrm>
          <a:prstGeom prst="roundRect">
            <a:avLst>
              <a:gd name="adj" fmla="val 21622"/>
            </a:avLst>
          </a:prstGeom>
          <a:solidFill>
            <a:srgbClr val="2F8F6A"/>
          </a:solidFill>
          <a:ln/>
        </p:spPr>
      </p:sp>
      <p:sp>
        <p:nvSpPr>
          <p:cNvPr id="51" name="Text 47"/>
          <p:cNvSpPr/>
          <p:nvPr/>
        </p:nvSpPr>
        <p:spPr>
          <a:xfrm>
            <a:off x="10309860" y="4718304"/>
            <a:ext cx="133045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4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548640" y="496062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9A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 — Optional transfer to third-party GCC/BPO provider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548640" y="5404104"/>
            <a:ext cx="30175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3F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onboarding &amp; resource rebadging</a:t>
            </a:r>
            <a:endParaRPr lang="en-US" sz="950" dirty="0"/>
          </a:p>
        </p:txBody>
      </p:sp>
      <p:sp>
        <p:nvSpPr>
          <p:cNvPr id="54" name="Shape 50"/>
          <p:cNvSpPr/>
          <p:nvPr/>
        </p:nvSpPr>
        <p:spPr>
          <a:xfrm>
            <a:off x="3657600" y="5458968"/>
            <a:ext cx="3991356" cy="169164"/>
          </a:xfrm>
          <a:prstGeom prst="roundRect">
            <a:avLst>
              <a:gd name="adj" fmla="val 21622"/>
            </a:avLst>
          </a:prstGeom>
          <a:solidFill>
            <a:srgbClr val="9A9AA2"/>
          </a:solidFill>
          <a:ln/>
        </p:spPr>
      </p:sp>
      <p:sp>
        <p:nvSpPr>
          <p:cNvPr id="55" name="Text 51"/>
          <p:cNvSpPr/>
          <p:nvPr/>
        </p:nvSpPr>
        <p:spPr>
          <a:xfrm>
            <a:off x="548640" y="5646420"/>
            <a:ext cx="30175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3F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dashboards &amp; performance monitoring</a:t>
            </a:r>
            <a:endParaRPr lang="en-US" sz="950" dirty="0"/>
          </a:p>
        </p:txBody>
      </p:sp>
      <p:sp>
        <p:nvSpPr>
          <p:cNvPr id="56" name="Shape 52"/>
          <p:cNvSpPr/>
          <p:nvPr/>
        </p:nvSpPr>
        <p:spPr>
          <a:xfrm>
            <a:off x="6318504" y="5701284"/>
            <a:ext cx="5321808" cy="169164"/>
          </a:xfrm>
          <a:prstGeom prst="roundRect">
            <a:avLst>
              <a:gd name="adj" fmla="val 21622"/>
            </a:avLst>
          </a:prstGeom>
          <a:solidFill>
            <a:srgbClr val="9A9AA2"/>
          </a:solidFill>
          <a:ln/>
        </p:spPr>
      </p:sp>
      <p:sp>
        <p:nvSpPr>
          <p:cNvPr id="57" name="Text 53"/>
          <p:cNvSpPr/>
          <p:nvPr/>
        </p:nvSpPr>
        <p:spPr>
          <a:xfrm>
            <a:off x="10126980" y="261518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8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RCPL independent</a:t>
            </a:r>
            <a:endParaRPr lang="en-US" sz="850" dirty="0"/>
          </a:p>
        </p:txBody>
      </p:sp>
      <p:sp>
        <p:nvSpPr>
          <p:cNvPr id="58" name="Text 54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10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 assets:  </a:t>
            </a:r>
            <a:pPr indent="0" marL="0">
              <a:buNone/>
            </a:pPr>
            <a:r>
              <a:rPr lang="en-US" sz="1050" dirty="0">
                <a:solidFill>
                  <a:srgbClr val="3F3F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checklist  ·  handover playbook  ·  talent rebadging &amp; vendor onboarding plan.</a:t>
            </a:r>
            <a:endParaRPr lang="en-US" sz="1050" dirty="0"/>
          </a:p>
        </p:txBody>
      </p:sp>
      <p:pic>
        <p:nvPicPr>
          <p:cNvPr id="5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437376"/>
            <a:ext cx="457200" cy="301752"/>
          </a:xfrm>
          <a:prstGeom prst="rect">
            <a:avLst/>
          </a:prstGeom>
        </p:spPr>
      </p:pic>
      <p:sp>
        <p:nvSpPr>
          <p:cNvPr id="60" name="Text 55"/>
          <p:cNvSpPr/>
          <p:nvPr/>
        </p:nvSpPr>
        <p:spPr>
          <a:xfrm>
            <a:off x="365760" y="6437376"/>
            <a:ext cx="457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200" dirty="0"/>
          </a:p>
        </p:txBody>
      </p:sp>
      <p:sp>
        <p:nvSpPr>
          <p:cNvPr id="61" name="Text 56"/>
          <p:cNvSpPr/>
          <p:nvPr/>
        </p:nvSpPr>
        <p:spPr>
          <a:xfrm>
            <a:off x="914400" y="6437376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EY’s Proposal towards “Reimagining RCPL’s GBS Operations”</a:t>
            </a:r>
            <a:endParaRPr lang="en-US" sz="1100" dirty="0"/>
          </a:p>
        </p:txBody>
      </p:sp>
      <p:sp>
        <p:nvSpPr>
          <p:cNvPr id="62" name="Shape 57"/>
          <p:cNvSpPr/>
          <p:nvPr/>
        </p:nvSpPr>
        <p:spPr>
          <a:xfrm>
            <a:off x="11109960" y="6419088"/>
            <a:ext cx="384048" cy="301752"/>
          </a:xfrm>
          <a:prstGeom prst="parallelogram">
            <a:avLst/>
          </a:prstGeom>
          <a:solidFill>
            <a:srgbClr val="FFE600"/>
          </a:solidFill>
          <a:ln/>
        </p:spPr>
      </p:sp>
      <p:sp>
        <p:nvSpPr>
          <p:cNvPr id="63" name="Text 58"/>
          <p:cNvSpPr/>
          <p:nvPr/>
        </p:nvSpPr>
        <p:spPr>
          <a:xfrm>
            <a:off x="11384280" y="64008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2E2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2026-07-20T18:24:48Z</dcterms:created>
  <dcterms:modified xsi:type="dcterms:W3CDTF">2026-07-20T18:24:48Z</dcterms:modified>
</cp:coreProperties>
</file>