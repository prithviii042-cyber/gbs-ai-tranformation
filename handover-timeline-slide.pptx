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58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Handover — 3-Month Plan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33856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2618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of the SSC &amp; technology transformation program we delivered</a:t>
            </a:r>
            <a:pPr indent="0" marL="0">
              <a:buNone/>
            </a:pPr>
            <a:r>
              <a:rPr lang="en-US" sz="12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designs, platforms (SSC, data lakehouse, AI factory, ERP), governance, roadmap &amp; capability — to RCPL’s transformation team. This is a program/ownership handover, not an operational process transition.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4096512" y="1874520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F2EFF4"/>
          </a:solidFill>
          <a:ln/>
        </p:spPr>
      </p:sp>
      <p:sp>
        <p:nvSpPr>
          <p:cNvPr id="7" name="Text 3"/>
          <p:cNvSpPr/>
          <p:nvPr/>
        </p:nvSpPr>
        <p:spPr>
          <a:xfrm>
            <a:off x="4069080" y="18745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</a:t>
            </a:r>
            <a:pPr algn="ctr" indent="0" marL="0">
              <a:buNone/>
            </a:pPr>
            <a:r>
              <a:rPr lang="en-US" sz="100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Consolidate &amp; Prepare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620256" y="1874520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F2EFF4"/>
          </a:solidFill>
          <a:ln/>
        </p:spPr>
      </p:sp>
      <p:sp>
        <p:nvSpPr>
          <p:cNvPr id="9" name="Text 5"/>
          <p:cNvSpPr/>
          <p:nvPr/>
        </p:nvSpPr>
        <p:spPr>
          <a:xfrm>
            <a:off x="6592824" y="18745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 </a:t>
            </a:r>
            <a:pPr algn="ctr" indent="0" marL="0">
              <a:buNone/>
            </a:pPr>
            <a:r>
              <a:rPr lang="en-US" sz="100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Guided Ownership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144000" y="1874520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F2EFF4"/>
          </a:solidFill>
          <a:ln/>
        </p:spPr>
      </p:sp>
      <p:sp>
        <p:nvSpPr>
          <p:cNvPr id="11" name="Text 7"/>
          <p:cNvSpPr/>
          <p:nvPr/>
        </p:nvSpPr>
        <p:spPr>
          <a:xfrm>
            <a:off x="9116568" y="18745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 </a:t>
            </a:r>
            <a:pPr algn="ctr" indent="0" marL="0">
              <a:buNone/>
            </a:pPr>
            <a:r>
              <a:rPr lang="en-US" sz="100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Independent Run &amp; Sign-off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96512" y="2231136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2E5FA3"/>
          </a:solidFill>
          <a:ln/>
        </p:spPr>
      </p:sp>
      <p:sp>
        <p:nvSpPr>
          <p:cNvPr id="13" name="Text 9"/>
          <p:cNvSpPr/>
          <p:nvPr/>
        </p:nvSpPr>
        <p:spPr>
          <a:xfrm>
            <a:off x="4069080" y="223113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packages the program
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named · KT sessions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20256" y="2231136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7A2A8F"/>
          </a:solidFill>
          <a:ln/>
        </p:spPr>
      </p:sp>
      <p:sp>
        <p:nvSpPr>
          <p:cNvPr id="15" name="Text 11"/>
          <p:cNvSpPr/>
          <p:nvPr/>
        </p:nvSpPr>
        <p:spPr>
          <a:xfrm>
            <a:off x="6592824" y="223113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leads, EY alongside
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operating models transfer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144000" y="2231136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C10E5B"/>
          </a:solidFill>
          <a:ln/>
        </p:spPr>
      </p:sp>
      <p:sp>
        <p:nvSpPr>
          <p:cNvPr id="17" name="Text 13"/>
          <p:cNvSpPr/>
          <p:nvPr/>
        </p:nvSpPr>
        <p:spPr>
          <a:xfrm>
            <a:off x="9116568" y="223113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owns, EY advisory
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· sign-off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00016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30952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61888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92824" y="2743200"/>
            <a:ext cx="0" cy="2926080"/>
          </a:xfrm>
          <a:prstGeom prst="line">
            <a:avLst/>
          </a:prstGeom>
          <a:noFill/>
          <a:ln w="12700">
            <a:solidFill>
              <a:srgbClr val="C9C4D0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7223760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54696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485632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116568" y="2743200"/>
            <a:ext cx="0" cy="2926080"/>
          </a:xfrm>
          <a:prstGeom prst="line">
            <a:avLst/>
          </a:prstGeom>
          <a:noFill/>
          <a:ln w="12700">
            <a:solidFill>
              <a:srgbClr val="C9C4D0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9747504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378440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009376" y="2743200"/>
            <a:ext cx="0" cy="2926080"/>
          </a:xfrm>
          <a:prstGeom prst="line">
            <a:avLst/>
          </a:prstGeom>
          <a:noFill/>
          <a:ln w="9525">
            <a:solidFill>
              <a:srgbClr val="ECE9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2798064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plan &amp; governance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069080" y="2868930"/>
            <a:ext cx="1261872" cy="210312"/>
          </a:xfrm>
          <a:prstGeom prst="roundRect">
            <a:avLst>
              <a:gd name="adj" fmla="val 21739"/>
            </a:avLst>
          </a:prstGeom>
          <a:solidFill>
            <a:srgbClr val="2E5FA3"/>
          </a:solidFill>
          <a:ln/>
        </p:spPr>
      </p:sp>
      <p:sp>
        <p:nvSpPr>
          <p:cNvPr id="31" name="Text 27"/>
          <p:cNvSpPr/>
          <p:nvPr/>
        </p:nvSpPr>
        <p:spPr>
          <a:xfrm>
            <a:off x="548640" y="3113532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asset consolidation &amp; documentation pack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069080" y="3184398"/>
            <a:ext cx="2523744" cy="210312"/>
          </a:xfrm>
          <a:prstGeom prst="roundRect">
            <a:avLst>
              <a:gd name="adj" fmla="val 21739"/>
            </a:avLst>
          </a:prstGeom>
          <a:solidFill>
            <a:srgbClr val="2E5FA3"/>
          </a:solidFill>
          <a:ln/>
        </p:spPr>
      </p:sp>
      <p:sp>
        <p:nvSpPr>
          <p:cNvPr id="33" name="Text 29"/>
          <p:cNvSpPr/>
          <p:nvPr/>
        </p:nvSpPr>
        <p:spPr>
          <a:xfrm>
            <a:off x="548640" y="3429000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RCPL owners per domain (SSC · data · AI · ERP · gov)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069080" y="3499866"/>
            <a:ext cx="1892808" cy="210312"/>
          </a:xfrm>
          <a:prstGeom prst="roundRect">
            <a:avLst>
              <a:gd name="adj" fmla="val 21739"/>
            </a:avLst>
          </a:prstGeom>
          <a:solidFill>
            <a:srgbClr val="2E5FA3"/>
          </a:solidFill>
          <a:ln/>
        </p:spPr>
      </p:sp>
      <p:sp>
        <p:nvSpPr>
          <p:cNvPr id="35" name="Text 31"/>
          <p:cNvSpPr/>
          <p:nvPr/>
        </p:nvSpPr>
        <p:spPr>
          <a:xfrm>
            <a:off x="548640" y="3744468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Knowledge-transfer sessions (design rationale, architecture, roadmap)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700016" y="3815334"/>
            <a:ext cx="3154680" cy="210312"/>
          </a:xfrm>
          <a:prstGeom prst="roundRect">
            <a:avLst>
              <a:gd name="adj" fmla="val 21739"/>
            </a:avLst>
          </a:prstGeom>
          <a:solidFill>
            <a:srgbClr val="7A2A8F"/>
          </a:solidFill>
          <a:ln/>
        </p:spPr>
      </p:sp>
      <p:sp>
        <p:nvSpPr>
          <p:cNvPr id="37" name="Text 33"/>
          <p:cNvSpPr/>
          <p:nvPr/>
        </p:nvSpPr>
        <p:spPr>
          <a:xfrm>
            <a:off x="548640" y="4059936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environments &amp; tooling ownership transfer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330952" y="4130802"/>
            <a:ext cx="2523744" cy="210312"/>
          </a:xfrm>
          <a:prstGeom prst="roundRect">
            <a:avLst>
              <a:gd name="adj" fmla="val 21739"/>
            </a:avLst>
          </a:prstGeom>
          <a:solidFill>
            <a:srgbClr val="7A2A8F"/>
          </a:solidFill>
          <a:ln/>
        </p:spPr>
      </p:sp>
      <p:sp>
        <p:nvSpPr>
          <p:cNvPr id="39" name="Text 35"/>
          <p:cNvSpPr/>
          <p:nvPr/>
        </p:nvSpPr>
        <p:spPr>
          <a:xfrm>
            <a:off x="548640" y="4375404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operating-model handover — run a live use-case cycle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961888" y="4446270"/>
            <a:ext cx="3785616" cy="210312"/>
          </a:xfrm>
          <a:prstGeom prst="roundRect">
            <a:avLst>
              <a:gd name="adj" fmla="val 21739"/>
            </a:avLst>
          </a:prstGeom>
          <a:solidFill>
            <a:srgbClr val="7A2A8F"/>
          </a:solidFill>
          <a:ln/>
        </p:spPr>
      </p:sp>
      <p:sp>
        <p:nvSpPr>
          <p:cNvPr id="41" name="Text 37"/>
          <p:cNvSpPr/>
          <p:nvPr/>
        </p:nvSpPr>
        <p:spPr>
          <a:xfrm>
            <a:off x="548640" y="4690872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build — RCPL team training &amp; certification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330952" y="4761738"/>
            <a:ext cx="4416552" cy="210312"/>
          </a:xfrm>
          <a:prstGeom prst="roundRect">
            <a:avLst>
              <a:gd name="adj" fmla="val 21739"/>
            </a:avLst>
          </a:prstGeom>
          <a:solidFill>
            <a:srgbClr val="7A2A8F"/>
          </a:solidFill>
          <a:ln/>
        </p:spPr>
      </p:sp>
      <p:sp>
        <p:nvSpPr>
          <p:cNvPr id="43" name="Text 39"/>
          <p:cNvSpPr/>
          <p:nvPr/>
        </p:nvSpPr>
        <p:spPr>
          <a:xfrm>
            <a:off x="548640" y="5006340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RCPL-led independent run — governance, roadmap &amp; AI factory (EY on-call)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9116568" y="5077206"/>
            <a:ext cx="2523744" cy="210312"/>
          </a:xfrm>
          <a:prstGeom prst="roundRect">
            <a:avLst>
              <a:gd name="adj" fmla="val 21739"/>
            </a:avLst>
          </a:prstGeom>
          <a:solidFill>
            <a:srgbClr val="C10E5B"/>
          </a:solidFill>
          <a:ln/>
        </p:spPr>
      </p:sp>
      <p:sp>
        <p:nvSpPr>
          <p:cNvPr id="45" name="Text 41"/>
          <p:cNvSpPr/>
          <p:nvPr/>
        </p:nvSpPr>
        <p:spPr>
          <a:xfrm>
            <a:off x="548640" y="5321808"/>
            <a:ext cx="34107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assurance, final sign-off &amp; advisory transition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9747504" y="5392674"/>
            <a:ext cx="1892808" cy="210312"/>
          </a:xfrm>
          <a:prstGeom prst="roundRect">
            <a:avLst>
              <a:gd name="adj" fmla="val 21739"/>
            </a:avLst>
          </a:prstGeom>
          <a:solidFill>
            <a:srgbClr val="2F8F6A"/>
          </a:solidFill>
          <a:ln/>
        </p:spPr>
      </p:sp>
      <p:sp>
        <p:nvSpPr>
          <p:cNvPr id="47" name="Shape 43"/>
          <p:cNvSpPr/>
          <p:nvPr/>
        </p:nvSpPr>
        <p:spPr>
          <a:xfrm>
            <a:off x="11640312" y="2743200"/>
            <a:ext cx="0" cy="2926080"/>
          </a:xfrm>
          <a:prstGeom prst="line">
            <a:avLst/>
          </a:prstGeom>
          <a:noFill/>
          <a:ln w="15875">
            <a:solidFill>
              <a:srgbClr val="2F8F6A"/>
            </a:solidFill>
            <a:prstDash val="dash"/>
          </a:ln>
        </p:spPr>
      </p:sp>
      <p:sp>
        <p:nvSpPr>
          <p:cNvPr id="48" name="Text 44"/>
          <p:cNvSpPr/>
          <p:nvPr/>
        </p:nvSpPr>
        <p:spPr>
          <a:xfrm>
            <a:off x="9116568" y="265176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F8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Program handover sign-off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48640" y="5870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assets:  </a:t>
            </a:r>
            <a:pPr indent="0" marL="0">
              <a:buNone/>
            </a:pPr>
            <a:r>
              <a:rPr lang="en-US" sz="105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playbook  ·  program asset pack  ·  capability &amp; certification framework  ·  roadmap &amp; backlog register.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— RCPL’s transformation team owns and evolves the SSC and AI factory independently; EY moves to advisory-only.</a:t>
            </a:r>
            <a:endParaRPr lang="en-US" sz="110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55664"/>
            <a:ext cx="457200" cy="29260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65760" y="6455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14400" y="6455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11109960" y="6437376"/>
            <a:ext cx="384048" cy="292608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55" name="Text 50"/>
          <p:cNvSpPr/>
          <p:nvPr/>
        </p:nvSpPr>
        <p:spPr>
          <a:xfrm>
            <a:off x="11384280" y="6419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2026-07-20T18:31:53Z</dcterms:created>
  <dcterms:modified xsi:type="dcterms:W3CDTF">2026-07-20T18:31:53Z</dcterms:modified>
</cp:coreProperties>
</file>