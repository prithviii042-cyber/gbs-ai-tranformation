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EY</c:v>
                </c:pt>
              </c:strCache>
            </c:strRef>
          </c:tx>
          <c:spPr>
            <a:solidFill>
              <a:srgbClr val="2E5F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Foundation</c:v>
                  </c:pt>
                  <c:pt idx="1">
                    <c:v>Lighthouse</c:v>
                  </c:pt>
                  <c:pt idx="2">
                    <c:v>Transform</c:v>
                  </c:pt>
                  <c:pt idx="3">
                    <c:v>Complete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60</c:v>
                </c:pt>
                <c:pt idx="2">
                  <c:v>40</c:v>
                </c:pt>
                <c:pt idx="3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RCPL</c:v>
                </c:pt>
              </c:strCache>
            </c:strRef>
          </c:tx>
          <c:spPr>
            <a:solidFill>
              <a:srgbClr val="C10E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Foundation</c:v>
                  </c:pt>
                  <c:pt idx="1">
                    <c:v>Lighthouse</c:v>
                  </c:pt>
                  <c:pt idx="2">
                    <c:v>Transform</c:v>
                  </c:pt>
                  <c:pt idx="3">
                    <c:v>Complete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25</c:v>
                </c:pt>
                <c:pt idx="1">
                  <c:v>40</c:v>
                </c:pt>
                <c:pt idx="2">
                  <c:v>60</c:v>
                </c:pt>
                <c:pt idx="3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F3F4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7132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Transfer 1 of 3 — KT Milestones</a:t>
            </a:r>
            <a:endParaRPr lang="en-US" sz="2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0"/>
            <a:ext cx="1371600" cy="731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131673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formal go/no-go gates move accountability from EY to RCPL. Capability transfer is evidenced at each gate, not assumed.</a:t>
            </a:r>
            <a:endParaRPr lang="en-US" sz="12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37376"/>
            <a:ext cx="457200" cy="30175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6437376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914400" y="643737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EY’s Proposal towards “Reimagining RCPL’s GBS Operations”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11109960" y="6419088"/>
            <a:ext cx="384048" cy="301752"/>
          </a:xfrm>
          <a:prstGeom prst="parallelogram">
            <a:avLst/>
          </a:prstGeom>
          <a:solidFill>
            <a:srgbClr val="FFE600"/>
          </a:solidFill>
          <a:ln/>
        </p:spPr>
      </p:sp>
      <p:sp>
        <p:nvSpPr>
          <p:cNvPr id="10" name="Text 5"/>
          <p:cNvSpPr/>
          <p:nvPr/>
        </p:nvSpPr>
        <p:spPr>
          <a:xfrm>
            <a:off x="11384280" y="6400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</a:t>
            </a:r>
            <a:endParaRPr lang="en-US" sz="2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47088"/>
            <a:ext cx="11091672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8640" y="1847088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EY-led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3321558" y="1847088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EY-supported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094476" y="1847088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RCPL-led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8867394" y="1847088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RCPL-owned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548640" y="2377440"/>
            <a:ext cx="2608326" cy="3200400"/>
          </a:xfrm>
          <a:prstGeom prst="roundRect">
            <a:avLst>
              <a:gd name="adj" fmla="val 2454"/>
            </a:avLst>
          </a:prstGeom>
          <a:solidFill>
            <a:srgbClr val="FBFAFC"/>
          </a:solidFill>
          <a:ln w="12700">
            <a:solidFill>
              <a:srgbClr val="EAE6EE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1633347" y="2523744"/>
            <a:ext cx="438912" cy="438912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18" name="Text 12"/>
          <p:cNvSpPr/>
          <p:nvPr/>
        </p:nvSpPr>
        <p:spPr>
          <a:xfrm>
            <a:off x="1633347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640080" y="3035808"/>
            <a:ext cx="24254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· Shadow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40080" y="3291840"/>
            <a:ext cx="24254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~M6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694944" y="3602736"/>
            <a:ext cx="23157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RCPL role
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Observes &amp; participates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role
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&amp; executes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EY:RCPL
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: 20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test
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can describe process + tooling end-to-end
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376422" y="2377440"/>
            <a:ext cx="2608326" cy="3200400"/>
          </a:xfrm>
          <a:prstGeom prst="roundRect">
            <a:avLst>
              <a:gd name="adj" fmla="val 2454"/>
            </a:avLst>
          </a:prstGeom>
          <a:solidFill>
            <a:srgbClr val="FBFAFC"/>
          </a:solidFill>
          <a:ln w="12700">
            <a:solidFill>
              <a:srgbClr val="EAE6EE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461129" y="2523744"/>
            <a:ext cx="438912" cy="438912"/>
          </a:xfrm>
          <a:prstGeom prst="ellipse">
            <a:avLst/>
          </a:prstGeom>
          <a:solidFill>
            <a:srgbClr val="5C4B9E"/>
          </a:solidFill>
          <a:ln/>
        </p:spPr>
      </p:sp>
      <p:sp>
        <p:nvSpPr>
          <p:cNvPr id="24" name="Text 18"/>
          <p:cNvSpPr/>
          <p:nvPr/>
        </p:nvSpPr>
        <p:spPr>
          <a:xfrm>
            <a:off x="4461129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25" name="Text 19"/>
          <p:cNvSpPr/>
          <p:nvPr/>
        </p:nvSpPr>
        <p:spPr>
          <a:xfrm>
            <a:off x="3467862" y="3035808"/>
            <a:ext cx="24254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C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· Reverse-shadow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3467862" y="3291840"/>
            <a:ext cx="24254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~M9–12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3522726" y="3602736"/>
            <a:ext cx="23157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C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RCPL role
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Executes, EY watching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role
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&amp; supports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EY:RCPL
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: 40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test
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RCPL runs it; EY only on exception
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6204204" y="2377440"/>
            <a:ext cx="2608326" cy="3200400"/>
          </a:xfrm>
          <a:prstGeom prst="roundRect">
            <a:avLst>
              <a:gd name="adj" fmla="val 2454"/>
            </a:avLst>
          </a:prstGeom>
          <a:solidFill>
            <a:srgbClr val="FBFAFC"/>
          </a:solidFill>
          <a:ln w="12700">
            <a:solidFill>
              <a:srgbClr val="EAE6E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288911" y="2523744"/>
            <a:ext cx="438912" cy="438912"/>
          </a:xfrm>
          <a:prstGeom prst="ellipse">
            <a:avLst/>
          </a:prstGeom>
          <a:solidFill>
            <a:srgbClr val="96276B"/>
          </a:solidFill>
          <a:ln/>
        </p:spPr>
      </p:sp>
      <p:sp>
        <p:nvSpPr>
          <p:cNvPr id="30" name="Text 24"/>
          <p:cNvSpPr/>
          <p:nvPr/>
        </p:nvSpPr>
        <p:spPr>
          <a:xfrm>
            <a:off x="7288911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31" name="Text 25"/>
          <p:cNvSpPr/>
          <p:nvPr/>
        </p:nvSpPr>
        <p:spPr>
          <a:xfrm>
            <a:off x="6295644" y="3035808"/>
            <a:ext cx="24254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62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 · RCPL-led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6295644" y="3291840"/>
            <a:ext cx="24254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~M12–14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6350508" y="3602736"/>
            <a:ext cx="23157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62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RCPL role
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independently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962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role
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safety net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962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EY:RCPL
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: 70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962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test
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for a defined period, no intervention
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9031986" y="2377440"/>
            <a:ext cx="2608326" cy="3200400"/>
          </a:xfrm>
          <a:prstGeom prst="roundRect">
            <a:avLst>
              <a:gd name="adj" fmla="val 2454"/>
            </a:avLst>
          </a:prstGeom>
          <a:solidFill>
            <a:srgbClr val="FBFAFC"/>
          </a:solidFill>
          <a:ln w="12700">
            <a:solidFill>
              <a:srgbClr val="EAE6EE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0116693" y="2523744"/>
            <a:ext cx="438912" cy="438912"/>
          </a:xfrm>
          <a:prstGeom prst="ellipse">
            <a:avLst/>
          </a:prstGeom>
          <a:solidFill>
            <a:srgbClr val="C10E5B"/>
          </a:solidFill>
          <a:ln/>
        </p:spPr>
      </p:sp>
      <p:sp>
        <p:nvSpPr>
          <p:cNvPr id="36" name="Text 30"/>
          <p:cNvSpPr/>
          <p:nvPr/>
        </p:nvSpPr>
        <p:spPr>
          <a:xfrm>
            <a:off x="10116693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37" name="Text 31"/>
          <p:cNvSpPr/>
          <p:nvPr/>
        </p:nvSpPr>
        <p:spPr>
          <a:xfrm>
            <a:off x="9123426" y="3035808"/>
            <a:ext cx="24254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10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4 · Independent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9123426" y="3291840"/>
            <a:ext cx="24254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~M15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9178290" y="3602736"/>
            <a:ext cx="23157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10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RCPL role
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fully — Accountable Architect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10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role
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Advisory-only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10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EY:RCPL
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: 90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10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test
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sign-off; all assets handed over
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548640" y="57150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gate is a formal go / no-go decision at the board — transferred capability is demonstrated before EY steps back.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7132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Transfer 2 of 3 — Mixed-Team Model</a:t>
            </a:r>
            <a:endParaRPr lang="en-US" sz="2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0"/>
            <a:ext cx="1371600" cy="731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131673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and transfer are the same activity. RCPL learns by doing, inside every pod, from Day 1 — so ownership is built, not bolted on.</a:t>
            </a:r>
            <a:endParaRPr lang="en-US" sz="12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37376"/>
            <a:ext cx="457200" cy="30175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6437376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914400" y="643737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EY’s Proposal towards “Reimagining RCPL’s GBS Operations”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11109960" y="6419088"/>
            <a:ext cx="384048" cy="301752"/>
          </a:xfrm>
          <a:prstGeom prst="parallelogram">
            <a:avLst/>
          </a:prstGeom>
          <a:solidFill>
            <a:srgbClr val="FFE600"/>
          </a:solidFill>
          <a:ln/>
        </p:spPr>
      </p:sp>
      <p:sp>
        <p:nvSpPr>
          <p:cNvPr id="10" name="Text 5"/>
          <p:cNvSpPr/>
          <p:nvPr/>
        </p:nvSpPr>
        <p:spPr>
          <a:xfrm>
            <a:off x="11384280" y="6400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</a:t>
            </a:r>
            <a:endParaRPr lang="en-US" sz="2200" dirty="0"/>
          </a:p>
        </p:txBody>
      </p:sp>
      <p:sp>
        <p:nvSpPr>
          <p:cNvPr id="11" name="Shape 6"/>
          <p:cNvSpPr/>
          <p:nvPr/>
        </p:nvSpPr>
        <p:spPr>
          <a:xfrm>
            <a:off x="548640" y="196596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C10E5B"/>
          </a:solidFill>
          <a:ln/>
        </p:spPr>
      </p:sp>
      <p:sp>
        <p:nvSpPr>
          <p:cNvPr id="12" name="Text 7"/>
          <p:cNvSpPr/>
          <p:nvPr/>
        </p:nvSpPr>
        <p:spPr>
          <a:xfrm>
            <a:off x="548640" y="20574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
</a:t>
            </a:r>
            <a:endParaRPr lang="en-US" sz="3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RCPL FTE embedded from Day 1</a:t>
            </a:r>
            <a:endParaRPr lang="en-US" sz="3400" dirty="0"/>
          </a:p>
        </p:txBody>
      </p:sp>
      <p:sp>
        <p:nvSpPr>
          <p:cNvPr id="13" name="Text 8"/>
          <p:cNvSpPr/>
          <p:nvPr/>
        </p:nvSpPr>
        <p:spPr>
          <a:xfrm>
            <a:off x="3063240" y="19659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fusion pod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063240" y="2286000"/>
            <a:ext cx="2971800" cy="731520"/>
          </a:xfrm>
          <a:prstGeom prst="roundRect">
            <a:avLst>
              <a:gd name="adj" fmla="val 7500"/>
            </a:avLst>
          </a:prstGeom>
          <a:solidFill>
            <a:srgbClr val="2E5FA3"/>
          </a:solidFill>
          <a:ln/>
        </p:spPr>
      </p:sp>
      <p:sp>
        <p:nvSpPr>
          <p:cNvPr id="15" name="Text 10"/>
          <p:cNvSpPr/>
          <p:nvPr/>
        </p:nvSpPr>
        <p:spPr>
          <a:xfrm>
            <a:off x="3154680" y="2331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expert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 advisory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480560" y="228600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4617720" y="22860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C10E5B"/>
          </a:solidFill>
          <a:ln/>
        </p:spPr>
      </p:sp>
      <p:sp>
        <p:nvSpPr>
          <p:cNvPr id="18" name="Text 13"/>
          <p:cNvSpPr/>
          <p:nvPr/>
        </p:nvSpPr>
        <p:spPr>
          <a:xfrm>
            <a:off x="4617720" y="2331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RCPL owner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→ leads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RCPL takes ownership of: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3566160"/>
            <a:ext cx="5440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 tower leads &amp; process owners (all 10 towers)
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 operators &amp; responsible-AI reviewers
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platform, MDM &amp; ERP product owners
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Control-tower analysts &amp; continuous-improvement leads
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/ PMO governance roles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355080" y="19659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vs RCPL effort mix, by phase</a:t>
            </a:r>
            <a:endParaRPr lang="en-US" sz="13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355080" y="2286000"/>
          <a:ext cx="5303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 17"/>
          <p:cNvSpPr/>
          <p:nvPr/>
        </p:nvSpPr>
        <p:spPr>
          <a:xfrm>
            <a:off x="6355080" y="51206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footprint tapers every phase:  lead → co-lead → support → advisory.  RCPL ownership rises to ~85%+ before the final gate.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7132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Transfer 3 of 3 — Exit Readiness</a:t>
            </a:r>
            <a:endParaRPr lang="en-US" sz="2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0"/>
            <a:ext cx="1371600" cy="731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131673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exits to advisory-only only when RCPL is demonstrably self-sufficient — everything needed to run and evolve the enterprise is handed over.</a:t>
            </a:r>
            <a:endParaRPr lang="en-US" sz="12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37376"/>
            <a:ext cx="457200" cy="30175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6437376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914400" y="643737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EY’s Proposal towards “Reimagining RCPL’s GBS Operations”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11109960" y="6419088"/>
            <a:ext cx="384048" cy="301752"/>
          </a:xfrm>
          <a:prstGeom prst="parallelogram">
            <a:avLst/>
          </a:prstGeom>
          <a:solidFill>
            <a:srgbClr val="FFE600"/>
          </a:solidFill>
          <a:ln/>
        </p:spPr>
      </p:sp>
      <p:sp>
        <p:nvSpPr>
          <p:cNvPr id="10" name="Text 5"/>
          <p:cNvSpPr/>
          <p:nvPr/>
        </p:nvSpPr>
        <p:spPr>
          <a:xfrm>
            <a:off x="11384280" y="6400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48640" y="1965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0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transfers at handover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48640" y="2350008"/>
            <a:ext cx="237744" cy="237744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13" name="Text 8"/>
          <p:cNvSpPr/>
          <p:nvPr/>
        </p:nvSpPr>
        <p:spPr>
          <a:xfrm>
            <a:off x="548640" y="2350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96112" y="229514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SOPs, runbooks &amp; playbooks  </a:t>
            </a:r>
            <a:pPr indent="0" marL="0">
              <a:buNone/>
            </a:pPr>
            <a:r>
              <a:rPr lang="en-US" sz="10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authored as we go — every process documented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2898648"/>
            <a:ext cx="237744" cy="237744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16" name="Text 11"/>
          <p:cNvSpPr/>
          <p:nvPr/>
        </p:nvSpPr>
        <p:spPr>
          <a:xfrm>
            <a:off x="548640" y="2898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96112" y="284378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&amp; platform ownership  </a:t>
            </a:r>
            <a:pPr indent="0" marL="0">
              <a:buNone/>
            </a:pPr>
            <a:r>
              <a:rPr lang="en-US" sz="10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SSC, data lakehouse and AI platforms handed over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447288"/>
            <a:ext cx="237744" cy="237744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19" name="Text 14"/>
          <p:cNvSpPr/>
          <p:nvPr/>
        </p:nvSpPr>
        <p:spPr>
          <a:xfrm>
            <a:off x="548640" y="34472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96112" y="339242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academy &amp; certified staff  </a:t>
            </a:r>
            <a:pPr indent="0" marL="0">
              <a:buNone/>
            </a:pPr>
            <a:r>
              <a:rPr lang="en-US" sz="10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role-based curricula left in place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3995928"/>
            <a:ext cx="237744" cy="237744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22" name="Text 17"/>
          <p:cNvSpPr/>
          <p:nvPr/>
        </p:nvSpPr>
        <p:spPr>
          <a:xfrm>
            <a:off x="548640" y="39959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96112" y="394106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AI-factory intake process  </a:t>
            </a:r>
            <a:pPr indent="0" marL="0">
              <a:buNone/>
            </a:pPr>
            <a:r>
              <a:rPr lang="en-US" sz="10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 RCPL keeps shipping new use cases post-M15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4544568"/>
            <a:ext cx="237744" cy="237744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25" name="Text 20"/>
          <p:cNvSpPr/>
          <p:nvPr/>
        </p:nvSpPr>
        <p:spPr>
          <a:xfrm>
            <a:off x="548640" y="4544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96112" y="448970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guardrails &amp; control tower  </a:t>
            </a:r>
            <a:pPr indent="0" marL="0">
              <a:buNone/>
            </a:pPr>
            <a:r>
              <a:rPr lang="en-US" sz="10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operated end-to-end by RCPL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48640" y="5093208"/>
            <a:ext cx="237744" cy="237744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28" name="Text 23"/>
          <p:cNvSpPr/>
          <p:nvPr/>
        </p:nvSpPr>
        <p:spPr>
          <a:xfrm>
            <a:off x="548640" y="5093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896112" y="503834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documentation  </a:t>
            </a:r>
            <a:pPr indent="0" marL="0">
              <a:buNone/>
            </a:pPr>
            <a:r>
              <a:rPr lang="en-US" sz="10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SOPs / RACI / KPIs across all transitioned processes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263640" y="1965960"/>
            <a:ext cx="5376672" cy="2148840"/>
          </a:xfrm>
          <a:prstGeom prst="roundRect">
            <a:avLst>
              <a:gd name="adj" fmla="val 3404"/>
            </a:avLst>
          </a:prstGeom>
          <a:solidFill>
            <a:srgbClr val="FBFAFC"/>
          </a:solidFill>
          <a:ln w="12700">
            <a:solidFill>
              <a:srgbClr val="EAE6E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446520" y="2103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 — the gate to advisory-only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6537960" y="2450592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SLAs met for a defined period
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RCPL runs operations with no EY intervention
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key roles filled, trained and certified
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100% complete and signed off
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critical dependencies on EY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263640" y="4224528"/>
            <a:ext cx="5376672" cy="1234440"/>
          </a:xfrm>
          <a:prstGeom prst="roundRect">
            <a:avLst>
              <a:gd name="adj" fmla="val 5926"/>
            </a:avLst>
          </a:prstGeom>
          <a:solidFill>
            <a:srgbClr val="F4EEF3"/>
          </a:solidFill>
          <a:ln w="12700">
            <a:solidFill>
              <a:srgbClr val="E6D6E2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446520" y="43342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0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Post-M15 support model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6446520" y="46177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Advisory-only engagement  ·  defined response SLAs  ·  periodic health checks &amp; continuous-improvement reviews  ·  RCPL evolves the AI factory and SSC independently.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548640" y="5650992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7A2A8F"/>
          </a:solidFill>
          <a:ln/>
        </p:spPr>
      </p:sp>
      <p:sp>
        <p:nvSpPr>
          <p:cNvPr id="37" name="Text 32"/>
          <p:cNvSpPr/>
          <p:nvPr/>
        </p:nvSpPr>
        <p:spPr>
          <a:xfrm>
            <a:off x="548640" y="5650992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— RCPL is the Accountable Architect of its own System-Governed enterprise.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2026-07-20T18:08:19Z</dcterms:created>
  <dcterms:modified xsi:type="dcterms:W3CDTF">2026-07-20T18:08:19Z</dcterms:modified>
</cp:coreProperties>
</file>